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2" roundtripDataSignature="AMtx7mhqMJSdkCPJrTBlUaBs2g3gDMe4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2e76c5a4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a2e76c5a47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2e76c5a4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a2e76c5a47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2e76c5a4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a2e76c5a47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F1E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731520" y="5486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6D2077"/>
                </a:solidFill>
                <a:latin typeface="Calibri"/>
                <a:ea typeface="Calibri"/>
                <a:cs typeface="Calibri"/>
                <a:sym typeface="Calibri"/>
              </a:rPr>
              <a:t>Proyecto Integrador - Data Analytics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914400" y="1828800"/>
            <a:ext cx="77724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  <a:t>SynthData | Sintetiza Conocimiento</a:t>
            </a:r>
            <a:b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  <a:t>Autor: Jose Acevedo</a:t>
            </a:r>
            <a:b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  <a:t>Fecha: 26</a:t>
            </a:r>
            <a: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  <a:t>/11/2025</a:t>
            </a:r>
            <a:endParaRPr/>
          </a:p>
        </p:txBody>
      </p:sp>
      <p:pic>
        <p:nvPicPr>
          <p:cNvPr descr="5799c7ca-42b1-4f95-afb8-a2deae8b5f8d.png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669280"/>
            <a:ext cx="1188720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F1EC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 txBox="1"/>
          <p:nvPr/>
        </p:nvSpPr>
        <p:spPr>
          <a:xfrm>
            <a:off x="673425" y="-3"/>
            <a:ext cx="8229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6D2077"/>
                </a:solidFill>
                <a:latin typeface="Calibri"/>
                <a:ea typeface="Calibri"/>
                <a:cs typeface="Calibri"/>
                <a:sym typeface="Calibri"/>
              </a:rPr>
              <a:t>Etapa 3 - Análisis Estadístico y Exploratorio</a:t>
            </a:r>
            <a:endParaRPr/>
          </a:p>
        </p:txBody>
      </p:sp>
      <p:sp>
        <p:nvSpPr>
          <p:cNvPr id="92" name="Google Shape;92;p4"/>
          <p:cNvSpPr txBox="1"/>
          <p:nvPr/>
        </p:nvSpPr>
        <p:spPr>
          <a:xfrm>
            <a:off x="817525" y="1144275"/>
            <a:ext cx="7772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  <a:t>Se calcularon medidas de tendencia central y dispersión.</a:t>
            </a:r>
            <a:b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  <a:t>Se identificaron los meses con mayor cantidad de ventas totales.</a:t>
            </a:r>
            <a:endParaRPr/>
          </a:p>
        </p:txBody>
      </p:sp>
      <p:pic>
        <p:nvPicPr>
          <p:cNvPr descr="5799c7ca-42b1-4f95-afb8-a2deae8b5f8d.png" id="93" name="Google Shape;9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66928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263" y="2860725"/>
            <a:ext cx="3496028" cy="313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9466" y="3334150"/>
            <a:ext cx="4611658" cy="1817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F1EC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2e76c5a47_0_3"/>
          <p:cNvSpPr txBox="1"/>
          <p:nvPr/>
        </p:nvSpPr>
        <p:spPr>
          <a:xfrm>
            <a:off x="557145" y="-97135"/>
            <a:ext cx="8229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6D2077"/>
                </a:solidFill>
                <a:latin typeface="Calibri"/>
                <a:ea typeface="Calibri"/>
                <a:cs typeface="Calibri"/>
                <a:sym typeface="Calibri"/>
              </a:rPr>
              <a:t>Etapa 3 - Análisis Estadístico y Exploratorio</a:t>
            </a:r>
            <a:endParaRPr/>
          </a:p>
        </p:txBody>
      </p:sp>
      <p:sp>
        <p:nvSpPr>
          <p:cNvPr id="101" name="Google Shape;101;g3a2e76c5a47_0_3"/>
          <p:cNvSpPr txBox="1"/>
          <p:nvPr/>
        </p:nvSpPr>
        <p:spPr>
          <a:xfrm>
            <a:off x="785750" y="1208850"/>
            <a:ext cx="7772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  <a:t>Distribución del total de ventas por cantidad, precio y el top 10 de los productos vendidos en </a:t>
            </a:r>
            <a: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  <a:t>gráficos</a:t>
            </a:r>
            <a: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  <a:t> comparativos.</a:t>
            </a:r>
            <a:b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descr="5799c7ca-42b1-4f95-afb8-a2deae8b5f8d.png" id="102" name="Google Shape;102;g3a2e76c5a47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66928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3a2e76c5a47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1317" y="2693400"/>
            <a:ext cx="4579858" cy="22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3a2e76c5a47_0_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138" y="4760713"/>
            <a:ext cx="3219450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F1E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2e76c5a47_0_13"/>
          <p:cNvSpPr txBox="1"/>
          <p:nvPr/>
        </p:nvSpPr>
        <p:spPr>
          <a:xfrm>
            <a:off x="731520" y="-181060"/>
            <a:ext cx="822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6D2077"/>
                </a:solidFill>
                <a:latin typeface="Calibri"/>
                <a:ea typeface="Calibri"/>
                <a:cs typeface="Calibri"/>
                <a:sym typeface="Calibri"/>
              </a:rPr>
              <a:t>Etapa 4 - Visualización de Datos</a:t>
            </a:r>
            <a:endParaRPr/>
          </a:p>
        </p:txBody>
      </p:sp>
      <p:sp>
        <p:nvSpPr>
          <p:cNvPr id="110" name="Google Shape;110;g3a2e76c5a47_0_13"/>
          <p:cNvSpPr txBox="1"/>
          <p:nvPr/>
        </p:nvSpPr>
        <p:spPr>
          <a:xfrm>
            <a:off x="876175" y="742350"/>
            <a:ext cx="7772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  <a:t>Gráficos de dispersión y correlación y distribución con Matplotlib y Seaborn.</a:t>
            </a:r>
            <a:b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descr="5799c7ca-42b1-4f95-afb8-a2deae8b5f8d.png" id="111" name="Google Shape;111;g3a2e76c5a47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66928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a2e76c5a47_0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375" y="1674200"/>
            <a:ext cx="2617748" cy="457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a2e76c5a47_0_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0998" y="1674200"/>
            <a:ext cx="2481793" cy="457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F1EC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2e76c5a47_0_19"/>
          <p:cNvSpPr txBox="1"/>
          <p:nvPr/>
        </p:nvSpPr>
        <p:spPr>
          <a:xfrm>
            <a:off x="731520" y="-181060"/>
            <a:ext cx="822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6D2077"/>
                </a:solidFill>
                <a:latin typeface="Calibri"/>
                <a:ea typeface="Calibri"/>
                <a:cs typeface="Calibri"/>
                <a:sym typeface="Calibri"/>
              </a:rPr>
              <a:t>Etapa 4 - Visualización de Datos</a:t>
            </a:r>
            <a:endParaRPr/>
          </a:p>
        </p:txBody>
      </p:sp>
      <p:sp>
        <p:nvSpPr>
          <p:cNvPr id="119" name="Google Shape;119;g3a2e76c5a47_0_19"/>
          <p:cNvSpPr txBox="1"/>
          <p:nvPr/>
        </p:nvSpPr>
        <p:spPr>
          <a:xfrm>
            <a:off x="895550" y="1226675"/>
            <a:ext cx="7772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  <a:t>Resumen Final</a:t>
            </a:r>
            <a:b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descr="5799c7ca-42b1-4f95-afb8-a2deae8b5f8d.png" id="120" name="Google Shape;120;g3a2e76c5a47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66928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a2e76c5a47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1100" y="2158538"/>
            <a:ext cx="721042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F1EC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/>
        </p:nvSpPr>
        <p:spPr>
          <a:xfrm>
            <a:off x="731520" y="5486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6D2077"/>
                </a:solidFill>
                <a:latin typeface="Calibri"/>
                <a:ea typeface="Calibri"/>
                <a:cs typeface="Calibri"/>
                <a:sym typeface="Calibri"/>
              </a:rPr>
              <a:t>Insights y Conclusiones</a:t>
            </a:r>
            <a:endParaRPr/>
          </a:p>
        </p:txBody>
      </p:sp>
      <p:sp>
        <p:nvSpPr>
          <p:cNvPr id="127" name="Google Shape;127;p6"/>
          <p:cNvSpPr txBox="1"/>
          <p:nvPr/>
        </p:nvSpPr>
        <p:spPr>
          <a:xfrm>
            <a:off x="914400" y="1828800"/>
            <a:ext cx="77724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  <a:t>- Decoración es la categoría con mayor peso en ventas.</a:t>
            </a:r>
            <a:b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  <a:t>- El producto lámpara de mesa aparte de ser el más vendido en dinero también lo fue en unidades.</a:t>
            </a:r>
            <a:b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  <a:t>- El canal con mayor alcance según las ventas, de las campañas de marketing es el email.</a:t>
            </a:r>
            <a:endParaRPr sz="2000">
              <a:solidFill>
                <a:srgbClr val="5032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  <a:t>- El primer semestre del 2024 fueron los meses con mayor cantidad de ventas.</a:t>
            </a:r>
            <a:b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>
                <a:solidFill>
                  <a:srgbClr val="5032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descr="5799c7ca-42b1-4f95-afb8-a2deae8b5f8d.png" id="128" name="Google Shape;1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669280"/>
            <a:ext cx="1188720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